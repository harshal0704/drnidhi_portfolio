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7" r:id="rId2"/>
    <p:sldId id="258" r:id="rId3"/>
    <p:sldId id="259" r:id="rId4"/>
    <p:sldId id="279" r:id="rId5"/>
    <p:sldId id="280" r:id="rId6"/>
    <p:sldId id="28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83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6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8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01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1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75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02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59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94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88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3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327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6860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49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108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807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209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47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B902765-C261-4319-B424-E7A912A364E3}" type="datetimeFigureOut">
              <a:rPr lang="en-IN" smtClean="0"/>
              <a:t>16-12-2022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185E626-D9B5-4628-B758-66BE70E15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48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85FADE-843C-6368-D32F-42155E24CB67}"/>
              </a:ext>
            </a:extLst>
          </p:cNvPr>
          <p:cNvSpPr txBox="1"/>
          <p:nvPr/>
        </p:nvSpPr>
        <p:spPr>
          <a:xfrm>
            <a:off x="966585" y="289171"/>
            <a:ext cx="10258830" cy="627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 of Presentation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Applied Anatomy of Abdomen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NIDHI PATEL</a:t>
            </a:r>
            <a:b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MS 1</a:t>
            </a:r>
            <a:r>
              <a:rPr lang="en-US" sz="20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year dept. of PSR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Guided by                                                                                          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KOLA VIJAYA KUMARI                                                                                       DR.R.VIJAYASANTHA KUMARI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Professor &amp; HOD                                                                                                        Associate Professor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MD(AYU)                                                                                                                            MD(AYU)                                                      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5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47C803F-1D08-4BCE-E4BF-61D3A9028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" y="-69153"/>
            <a:ext cx="7119458" cy="57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403FACA-5BF8-392F-37F9-714A79869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7" y="684786"/>
            <a:ext cx="691242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Abdomen is a cylindrical chamber extending from diaphragm to the base of the pelvis, comprising of abdomen proper &amp; the lesser pelvis.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Abdomen proper &amp; lesser pelvis communicate with each other at the plane of inlet into lesser pelvis (upper border of pubic symphysis, pubic crests, arcuate line of innominate bones, sacral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promontary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Contents of Abdomen proper: - Most of the digestive tube, Liver, pancreas, spleen, kidneys, ureters (in part), supra renal gland &amp; various blood &amp;lymph vessels lymph nodes &amp;nerves 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Contents of lesser pelvis: - Terminal parts of ureters, urinary bladders, the sigmoid colon, rectum some coils of ileum, internal genitalia, blood &amp; lymph vessels, lymph nodes &amp; nerves.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A694EC-907B-90F2-8DA5-8287B6C7C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971" y="3429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52" name="Picture 1">
            <a:extLst>
              <a:ext uri="{FF2B5EF4-FFF2-40B4-BE49-F238E27FC236}">
                <a16:creationId xmlns:a16="http://schemas.microsoft.com/office/drawing/2014/main" id="{DB4835D0-DFB0-B907-B53D-4AAD523AD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985" y="1539870"/>
            <a:ext cx="4016829" cy="431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67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2D727F-7280-4561-811C-A0270D835B25}"/>
              </a:ext>
            </a:extLst>
          </p:cNvPr>
          <p:cNvSpPr txBox="1"/>
          <p:nvPr/>
        </p:nvSpPr>
        <p:spPr>
          <a:xfrm>
            <a:off x="232475" y="185980"/>
            <a:ext cx="11676496" cy="392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8135" algn="ctr">
              <a:lnSpc>
                <a:spcPct val="107000"/>
              </a:lnSpc>
              <a:spcAft>
                <a:spcPts val="800"/>
              </a:spcAft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REGIONS OF ABDOMEN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Nine regions of the abdomen can be marked using two horizontal and two vertical dividing lines.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The vertical lines are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mid-clavicular lines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taken from the mid-point of each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clavicle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upper horizontal line is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subcostal line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taken from the inferior parts of the lowest costal cartilages.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lower horizontal line is the </a:t>
            </a:r>
            <a:r>
              <a:rPr lang="en-IN" sz="1800" strike="noStrike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intertubercular line</a:t>
            </a:r>
            <a: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connecting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tubercles of the pelvis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three main centrally positioned regions are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epigastric region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umbilical region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and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hypogastric region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also known as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pubic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region.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On the sides of the abdomen the other six regions are the left and right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hypochondriac regions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on either side of the epigastrium; the left and right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lumbar flank regions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on either side of the umbilical region, and the left and right iliac or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inguinal regions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on either side of the hypogastrium.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D6094-0F72-24CE-93DF-2F4AEA4DC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29" y="3786107"/>
            <a:ext cx="6346371" cy="288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9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5A0159-E1E2-2D91-7199-F0A43615E97D}"/>
              </a:ext>
            </a:extLst>
          </p:cNvPr>
          <p:cNvSpPr txBox="1"/>
          <p:nvPr/>
        </p:nvSpPr>
        <p:spPr>
          <a:xfrm>
            <a:off x="2814320" y="172904"/>
            <a:ext cx="6096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8135" algn="ctr">
              <a:lnSpc>
                <a:spcPct val="107000"/>
              </a:lnSpc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ORGANS OF ABDOMEN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24719-0824-1DB8-0B1D-4A9E0F0FA018}"/>
              </a:ext>
            </a:extLst>
          </p:cNvPr>
          <p:cNvSpPr txBox="1"/>
          <p:nvPr/>
        </p:nvSpPr>
        <p:spPr>
          <a:xfrm>
            <a:off x="762000" y="1568268"/>
            <a:ext cx="7416800" cy="426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ABDOMEN PART OF ESOPHAGUS:-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fibromuscular tube, about 25 cm (10 in) long in adults, that travels behind the trachea and heart, passes through the diaphragm, and empties into the uppermost region of the stomach.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surrounded at the top and bottom by two muscular rings, known respectively as the upper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esophageal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sphincter and the lower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esophageal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sphincter.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lower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esophageal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sphincter, or gastroesophageal sphincter, surrounds the lower part of 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 the junction between 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the stomach.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also called the cardiac sphincter or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cardioesophageal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sphincter.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8940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894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EC4EC5-51D2-05C3-163B-8F6EA2795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120" y="122104"/>
            <a:ext cx="3558913" cy="635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9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9BD872-A826-6387-DA3D-129ACFF5953E}"/>
              </a:ext>
            </a:extLst>
          </p:cNvPr>
          <p:cNvSpPr txBox="1"/>
          <p:nvPr/>
        </p:nvSpPr>
        <p:spPr>
          <a:xfrm>
            <a:off x="528320" y="0"/>
            <a:ext cx="9966960" cy="5351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Anatomy:-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07000"/>
              </a:lnSpc>
              <a:spcAft>
                <a:spcPts val="800"/>
              </a:spcAft>
            </a:pPr>
            <a:r>
              <a:rPr lang="en-IN" sz="20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Barrett's </a:t>
            </a:r>
            <a:r>
              <a:rPr lang="en-IN" sz="2400" b="1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esophagus</a:t>
            </a: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Barrett's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condition in which there is an abnormal (metaplastic) change in the mucosal cells lining the lower portion of 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from stratified squamous epithelium to simple columnar epithelium.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change from normal to premalignant cells indicate Barrett's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does not cause any particular symptoms. Barrett's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however, is associated with these symptoms: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frequent and longstanding heartburn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trouble swallowing (dysphagia)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vomiting blood (hematemesis)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 under the sternum where 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esophagus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meets the stomach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 when swallowing (odynophagia)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8940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8940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8135">
              <a:lnSpc>
                <a:spcPct val="107000"/>
              </a:lnSpc>
              <a:spcAft>
                <a:spcPts val="800"/>
              </a:spcAft>
            </a:pPr>
            <a:r>
              <a:rPr lang="en-IN" sz="2400" b="1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Esophageal</a:t>
            </a: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cancer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B07EF-0B2C-A177-C505-16B983C1C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287" y="2946400"/>
            <a:ext cx="4785713" cy="274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7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6303A-44A3-B6B8-C527-9F7385899DCF}"/>
              </a:ext>
            </a:extLst>
          </p:cNvPr>
          <p:cNvSpPr txBox="1"/>
          <p:nvPr/>
        </p:nvSpPr>
        <p:spPr>
          <a:xfrm>
            <a:off x="944880" y="1595533"/>
            <a:ext cx="4074160" cy="3075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8135">
              <a:lnSpc>
                <a:spcPct val="107000"/>
              </a:lnSpc>
            </a:pPr>
            <a:r>
              <a:rPr lang="en-IN" sz="2400" b="1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Esophageal</a:t>
            </a: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achalasia</a:t>
            </a:r>
          </a:p>
          <a:p>
            <a:pPr marL="318135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Esophageal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achalasia, often referred to simply as achalasia, is a failure of smooth muscle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fibers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relax, which can cause the lower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esophageal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sphincter to remain closed.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Achalasia is characterized by difficulty in swallowing, regurgitation, and sometimes chest pain.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CACC2-1DBF-00B6-AF12-72ECADA1C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911" y="1147667"/>
            <a:ext cx="6858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47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71B9FB-6953-0C18-32E0-3581A7E7DE2A}"/>
              </a:ext>
            </a:extLst>
          </p:cNvPr>
          <p:cNvSpPr txBox="1"/>
          <p:nvPr/>
        </p:nvSpPr>
        <p:spPr>
          <a:xfrm>
            <a:off x="309881" y="1030670"/>
            <a:ext cx="11963399" cy="343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STOMACH: 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stomach is a muscular organ located on the left upper side of the abdomen.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spc="-1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stomach is the most dilated part of the digestive system, lying between the </a:t>
            </a:r>
            <a:r>
              <a:rPr lang="en-IN" sz="1800" u="none" strike="noStrike" spc="-1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esophagus</a:t>
            </a:r>
            <a:r>
              <a:rPr lang="en-IN" sz="1800" spc="-1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IN" sz="1800" u="none" strike="noStrike" spc="-1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duodenum</a:t>
            </a:r>
            <a:r>
              <a:rPr lang="en-IN" sz="1800" spc="-1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Shape: - ‘J’ shaped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Capacity: - 30 ml at birth, 1 lit at puberty and 1.5 to 2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more in adults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Location: - 10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Thorasic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3 lumber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Parts of stomach: 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8864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Cardiac region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8864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Fundus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8864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88645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Pyloric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90E60-4CB2-31E0-1524-9067D390B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906486"/>
            <a:ext cx="5012816" cy="312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88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27C8B6-6275-2465-1946-5B53BA827B07}"/>
              </a:ext>
            </a:extLst>
          </p:cNvPr>
          <p:cNvSpPr txBox="1"/>
          <p:nvPr/>
        </p:nvSpPr>
        <p:spPr>
          <a:xfrm>
            <a:off x="402771" y="576942"/>
            <a:ext cx="11713029" cy="31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Anatomy:-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68350">
              <a:lnSpc>
                <a:spcPct val="107000"/>
              </a:lnSpc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SzPts val="1600"/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HIATAL HERNIA:-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hiatal hernia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is a protrusion of part of the stomach into the </a:t>
            </a: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mediastinum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through 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esophageal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hiatus of the </a:t>
            </a: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diaphragm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gastric part can be involved, but the most common situation is a protrusion of the gastroesophageal junction (</a:t>
            </a: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sliding hiatal hernia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accounting for 95% of cases.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fundus of the stomach (</a:t>
            </a: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paraesophageal hiatal hernia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multiple parts, or even the entire organ can herniate into the mediastinum.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4869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C6167-D0AF-5528-AD8B-B34474065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77" y="3333668"/>
            <a:ext cx="5462851" cy="294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17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BAE036-5D3E-D0D4-37A8-04859E0291B9}"/>
              </a:ext>
            </a:extLst>
          </p:cNvPr>
          <p:cNvSpPr txBox="1"/>
          <p:nvPr/>
        </p:nvSpPr>
        <p:spPr>
          <a:xfrm>
            <a:off x="442686" y="855617"/>
            <a:ext cx="11160034" cy="2219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buSzPts val="1600"/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DISPLACEMENT OF STOMACH :-</a:t>
            </a:r>
          </a:p>
          <a:p>
            <a:pPr lvl="0">
              <a:lnSpc>
                <a:spcPct val="107000"/>
              </a:lnSpc>
              <a:buSzPts val="1600"/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Pancreatic	and pseudo cyst and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abcess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omentum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bursa can may push the stomach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forword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anteriorly this displacement is usually visible in lateral radiographic/CT.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posterior wall of stomach may adhere to the part of the posterior wall of the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omentum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bursa that covers the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pancreas.this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occurs due to  inflammation of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pancrease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it is very close to  (posterior wall of stomach) </a:t>
            </a:r>
            <a:r>
              <a:rPr lang="en-IN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pancre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B4126-1777-773C-B5E7-5053F976D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053" y="3312885"/>
            <a:ext cx="4627880" cy="332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47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A00C5-C005-5328-13A4-B928E053B8F3}"/>
              </a:ext>
            </a:extLst>
          </p:cNvPr>
          <p:cNvSpPr txBox="1"/>
          <p:nvPr/>
        </p:nvSpPr>
        <p:spPr>
          <a:xfrm>
            <a:off x="424542" y="1295400"/>
            <a:ext cx="10809515" cy="3405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buSzPts val="1600"/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PEPTIC ULCER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sore that develops on the lining of the oesophagus, stomach or small intestine.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Ulcers occur when stomach acid damages the lining of the digestive tract.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causes include the bacteria H. Pylori and anti-inflammatory pain relievers including aspirin.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abdominal pain is a common symptom.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3253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SzPts val="1600"/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CANCER OF STOMACH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Stomach cancer, also known as gastric cancer, is cancer developing from the lining of the stomach.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Because the lymphatic vessels of the mucous membrane and submucosa of the stomach are in continuity, it is possible for cancer cells travel to different parts of the stomach.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635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9D67B-1F96-96A4-2582-72A76D895154}"/>
              </a:ext>
            </a:extLst>
          </p:cNvPr>
          <p:cNvSpPr txBox="1"/>
          <p:nvPr/>
        </p:nvSpPr>
        <p:spPr>
          <a:xfrm>
            <a:off x="404654" y="1533200"/>
            <a:ext cx="9225280" cy="2779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 INTESTINE: -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 intestine is the part of gastrointestinal tract, extending between the pyloric sphincter of stomach and ileocecal vale, which opens into large intestine. It is called small intestine.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Length: -6 meter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Type: 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847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Duodenum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847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Jejunum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8475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Ileum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7B05E-08D9-64C5-748F-05789262E1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534" y="3182943"/>
            <a:ext cx="5428932" cy="335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BC9038-AD13-363D-804A-3E2DCB0F0F0D}"/>
              </a:ext>
            </a:extLst>
          </p:cNvPr>
          <p:cNvSpPr txBox="1"/>
          <p:nvPr/>
        </p:nvSpPr>
        <p:spPr>
          <a:xfrm>
            <a:off x="309880" y="597733"/>
            <a:ext cx="11572240" cy="613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Anatomy: -</a:t>
            </a:r>
          </a:p>
          <a:p>
            <a:pPr lvl="0" algn="ctr">
              <a:lnSpc>
                <a:spcPct val="107000"/>
              </a:lnSpc>
            </a:pPr>
            <a:endParaRPr lang="en-IN" sz="20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DUODENAL ULCER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duodenal ulcer is a sore that forms in the lining of the duodenum.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typically occurs after eating or drinking.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Symptoms may include early satiation, uncomfortable fullness, bloating, nausea, vomiting, belching, flatulence, heartburn, regurgitation and diarrhoea.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813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CONGENITAL STENOSIS AND OBSTRUCTION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Stenosis and obstruction of the second part of the duodenum may occur at the site of the opening of the bile duct.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Meckel's diverticulum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the most common congenital anomaly of the gastrointestinal tract.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 results from incomplete obliteration of the vitelline duct leading to the formation of a true diverticulum of the small intestine.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Meckel's diverticula are uncommon and often clinically silent, particularly in the adult.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830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DUODENAL CARCINOMA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8135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812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B13A7-8FB0-6670-E705-AC155AA44EE1}"/>
              </a:ext>
            </a:extLst>
          </p:cNvPr>
          <p:cNvSpPr txBox="1"/>
          <p:nvPr/>
        </p:nvSpPr>
        <p:spPr>
          <a:xfrm>
            <a:off x="701040" y="1255776"/>
            <a:ext cx="5394960" cy="3470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 INTESTINE: -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 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 intestine,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also known as the large bowel, represents the last part of the </a:t>
            </a:r>
            <a:r>
              <a:rPr lang="en-IN" sz="18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gastrointestinal tract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large intestine is a 1 to 1.5-meter continuation of the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sz="1800" spc="-1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ileum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extending from the </a:t>
            </a:r>
            <a:r>
              <a:rPr lang="en-IN" sz="1800" spc="-10" dirty="0">
                <a:solidFill>
                  <a:srgbClr val="000000"/>
                </a:solidFill>
                <a:effectLst/>
                <a:latin typeface="var(--medium)"/>
                <a:ea typeface="Calibri" panose="020F0502020204030204" pitchFamily="34" charset="0"/>
                <a:cs typeface="Times New Roman" panose="02020603050405020304" pitchFamily="18" charset="0"/>
              </a:rPr>
              <a:t>ileocecal junction 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the </a:t>
            </a:r>
            <a:r>
              <a:rPr lang="en-IN" sz="1800" spc="-10" dirty="0">
                <a:solidFill>
                  <a:srgbClr val="000000"/>
                </a:solidFill>
                <a:effectLst/>
                <a:latin typeface="var(--medium)"/>
                <a:ea typeface="Calibri" panose="020F0502020204030204" pitchFamily="34" charset="0"/>
                <a:cs typeface="Times New Roman" panose="02020603050405020304" pitchFamily="18" charset="0"/>
              </a:rPr>
              <a:t>anus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Parts:-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Cecum, appendix, ascending colon, transverse colon, descending colon, sigmoid colon, rectum, anal canal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6491E-6E67-F832-A5A9-D712914AC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122" y="1255776"/>
            <a:ext cx="4856480" cy="38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77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333D56-448F-0C4F-8F7A-3CEF15AC3E3F}"/>
              </a:ext>
            </a:extLst>
          </p:cNvPr>
          <p:cNvSpPr txBox="1"/>
          <p:nvPr/>
        </p:nvSpPr>
        <p:spPr>
          <a:xfrm>
            <a:off x="497840" y="808672"/>
            <a:ext cx="9245600" cy="3207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Anatomy: -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en-IN" sz="20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DIVERTICULOSIS: 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Also known as “diverticular disease”.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the condition of having diverticula in the colon, which are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outpocketings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the colonic mucosa and submucosa through weaknesses of muscle layers in the colon wall.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more common in the sigmoid colon, which is a common place for increased pressure.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uncommon before the age of 40.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75335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750049-EC3E-07E1-1C43-D6735B25F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386" y="3139703"/>
            <a:ext cx="3999779" cy="335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6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AD5712-3968-12D0-7C4E-05350F53E52A}"/>
              </a:ext>
            </a:extLst>
          </p:cNvPr>
          <p:cNvSpPr txBox="1"/>
          <p:nvPr/>
        </p:nvSpPr>
        <p:spPr>
          <a:xfrm>
            <a:off x="934720" y="1538674"/>
            <a:ext cx="9753600" cy="2450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PAIN OF APPENDICITIS: -</a:t>
            </a:r>
          </a:p>
          <a:p>
            <a:pPr lvl="0">
              <a:lnSpc>
                <a:spcPct val="107000"/>
              </a:lnSpc>
            </a:pPr>
            <a:endParaRPr lang="en-IN" sz="2000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Visceral pain in the appendix is produced by distention of its lumen or spasm of its muscle.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afferent pain fibres enter the spinal cord at the level of the tenth thoracic segment and a vague referred pain is felt in the region of the umbilicus.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Later, the pain shifts to  where the inflamed  appendix irritates the 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parital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peritoneum.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8305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743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639AF0-D51C-0097-5D44-F47443C4CE08}"/>
              </a:ext>
            </a:extLst>
          </p:cNvPr>
          <p:cNvSpPr txBox="1"/>
          <p:nvPr/>
        </p:nvSpPr>
        <p:spPr>
          <a:xfrm>
            <a:off x="812800" y="650240"/>
            <a:ext cx="11470640" cy="3668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LIVER :-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 liver is a large organ found in the upper right quadrant of the abdomen.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is a multifunctional accessory organ of the gastrointestinal tract and performs several essential functions such as detoxification, protein synthesis, bile production and nutrient storage to name only a few.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the largest gland in the human body, weighing approximately 1.5 kilograms.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Lobes: right, left, caudate, quadrate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Surfaces: diaphragmatic, visceral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Ligaments: coronary, left triangular, falciform, round ligament, venous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Fissures and recesses: porta hepatis (central fissure), subphrenic recess, hepatorenal recess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813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8135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9A168-3FFC-EA74-042A-719BF0A16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51" y="3738880"/>
            <a:ext cx="4307629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94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9E40CF-08F3-2C03-55B5-4FB0139A87A7}"/>
              </a:ext>
            </a:extLst>
          </p:cNvPr>
          <p:cNvSpPr txBox="1"/>
          <p:nvPr/>
        </p:nvSpPr>
        <p:spPr>
          <a:xfrm>
            <a:off x="172720" y="1158240"/>
            <a:ext cx="6482080" cy="4327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Anatomy: -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07000"/>
              </a:lnSpc>
            </a:pPr>
            <a:r>
              <a:rPr lang="en-IN" sz="2000" b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LIVER CIRRHOSIS: -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Cirrhosis is a late stage of scarring (fibrosis) of the liver caused by many forms of liver diseases and conditions, such as hepatitis and chronic alcoholism.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time your liver is injured — whether by disease, excessive alcohol consumption or another cause — it tries to repair itself.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process, scar tissue forms.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cirrhosis progresses, more and more scar tissue forms, making it difficult for the liver to function (decompensated cirrhosis). Advanced cirrhosis is life-threatening.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732BF-C6FC-35BB-DB2F-FB159D85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8" b="21952"/>
          <a:stretch/>
        </p:blipFill>
        <p:spPr bwMode="auto">
          <a:xfrm>
            <a:off x="6654800" y="2072640"/>
            <a:ext cx="5237637" cy="30886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44346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7388C4-2F13-CEB1-8233-1895944F751F}"/>
              </a:ext>
            </a:extLst>
          </p:cNvPr>
          <p:cNvSpPr txBox="1"/>
          <p:nvPr/>
        </p:nvSpPr>
        <p:spPr>
          <a:xfrm>
            <a:off x="635000" y="919014"/>
            <a:ext cx="6263640" cy="4030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PANCREAS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pancreas is an accessory organ and exocrine gland of the digestive system, as well as a hormone producing endocrine gland.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pancreas is an elongated organ (approximately 15 cm) which lies obliquely across the posterior abdominal wall, at the level of the L1 and L2 vertebral bodies.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is a retroperitoneal organ consisting of five parts and an internal system of ducts.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Parts-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4584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External: head, uncinate process, neck, body, tail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45845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Internal: main pancreatic duct (of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Wirsung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accessory pancreatic duct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80BC7-BF7D-2D08-AC1C-054695598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375" y="1095064"/>
            <a:ext cx="4373625" cy="394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32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028EFE-3315-63C1-2E71-3A91B7C4F02F}"/>
              </a:ext>
            </a:extLst>
          </p:cNvPr>
          <p:cNvSpPr txBox="1"/>
          <p:nvPr/>
        </p:nvSpPr>
        <p:spPr>
          <a:xfrm>
            <a:off x="609600" y="1767840"/>
            <a:ext cx="11826240" cy="310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PANCREATIC CYST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Pancreatic cysts are saclike pockets of fluid on pancreas.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cyst present as a large fixed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upper part of abdomen along the median plane.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are often symptomless.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65505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180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CARCINOMA OF PANCREAS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most common in the head of the pancreas.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Pressure over the posteriorly placed bile duct leads to persistent obstructive jaundice.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may press upon the portal vein causing Ascites.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0A6F7-BEC1-5022-C25B-46CE1D734A76}"/>
              </a:ext>
            </a:extLst>
          </p:cNvPr>
          <p:cNvSpPr txBox="1"/>
          <p:nvPr/>
        </p:nvSpPr>
        <p:spPr>
          <a:xfrm>
            <a:off x="3413760" y="640264"/>
            <a:ext cx="621792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Anatomy: -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76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2E3A14-A9F8-A35A-6F2B-E70DE1D7EC09}"/>
              </a:ext>
            </a:extLst>
          </p:cNvPr>
          <p:cNvSpPr txBox="1"/>
          <p:nvPr/>
        </p:nvSpPr>
        <p:spPr>
          <a:xfrm>
            <a:off x="894080" y="1775855"/>
            <a:ext cx="5080000" cy="330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ANNULAR PANCREAS :-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developmental anomaly.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Annular pancreas is a rare condition in which the second part of the duodenum is surrounded by a ring of pancreatic tissue continuous with the head of the pancreas.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portion of the pancreas can constrict the duodenum and block or impair the flow of food to the rest of the intestines.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18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B04DE-69DF-A8DF-EDBD-5BAD0CF794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18" y="1228911"/>
            <a:ext cx="4255050" cy="409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00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D19777-94AF-3D34-EB19-1D543CE55DEA}"/>
              </a:ext>
            </a:extLst>
          </p:cNvPr>
          <p:cNvSpPr txBox="1"/>
          <p:nvPr/>
        </p:nvSpPr>
        <p:spPr>
          <a:xfrm>
            <a:off x="904240" y="1635760"/>
            <a:ext cx="4937760" cy="254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GALL BLADDER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gallbladder is a pear-shaped organ located in the right upper quadrant of the abdomen.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measures approximately 7 cm to 10 cm in length and 4 cm in width.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fossa for the gallbladder extends from the right end of the porta hepatis to the inferior border of the liver.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E0AD3-54FF-869D-051F-F52DA032B7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60" y="1287767"/>
            <a:ext cx="3792233" cy="379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3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FE5400-5C42-0CED-073E-932A6401EB6C}"/>
              </a:ext>
            </a:extLst>
          </p:cNvPr>
          <p:cNvSpPr txBox="1"/>
          <p:nvPr/>
        </p:nvSpPr>
        <p:spPr>
          <a:xfrm>
            <a:off x="843280" y="294640"/>
            <a:ext cx="10342880" cy="2680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Anatomy: -</a:t>
            </a:r>
          </a:p>
          <a:p>
            <a:pPr lvl="0" algn="ctr">
              <a:lnSpc>
                <a:spcPct val="107000"/>
              </a:lnSpc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OBSTRUCTIVE JAUNDICE :-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Biliary obstruction arises when passage of bile into the duodenum is blocked either completely or partially.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Obstruction may be intrahepatic or extrahepatic.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Causes are – the gall stones which slip down into the bile duct and block it and Cancer of the head of pancreas which compress the bile duct.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7935C-005B-DAF6-884C-1CCCAC20EF37}"/>
              </a:ext>
            </a:extLst>
          </p:cNvPr>
          <p:cNvSpPr txBox="1"/>
          <p:nvPr/>
        </p:nvSpPr>
        <p:spPr>
          <a:xfrm>
            <a:off x="690880" y="3708400"/>
            <a:ext cx="10637520" cy="2058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Gallbladder carcinoma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Cancer of the gallbladder is uncommon and mostly occurs in later life.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cancer occurs, it is mostly of the glands lining the surface of the gallbladder (adenocarcinoma).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Gallstones are thought to be linked to the formation of cancer.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risk factors include large (&gt;1 cm) gallbladder polyps and having a highly calcified "porcelain" gallbladder.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628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F313C1-06B7-8328-D42C-4CC55FE5E53C}"/>
              </a:ext>
            </a:extLst>
          </p:cNvPr>
          <p:cNvSpPr txBox="1"/>
          <p:nvPr/>
        </p:nvSpPr>
        <p:spPr>
          <a:xfrm>
            <a:off x="751840" y="1432560"/>
            <a:ext cx="6543040" cy="3372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SPLEEN :-</a:t>
            </a:r>
          </a:p>
          <a:p>
            <a:pPr lvl="0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Spleen is a lymphatic organ connected to the blood vascular system.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acts as a filter for blood and plays an important role in the immune responses of the body.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spleen is an organ shaped like a shoe that lies relative to the 9th and 11th ribs and is located in the left hypochondrium and partly in the epigastrium.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Thus, the spleen is situated between the fundus of the stomach and the diaphragm.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47231-098D-46DB-DADE-D861D1A4E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614" y="1548813"/>
            <a:ext cx="4700466" cy="3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3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564968-78FF-419F-BF8F-83CD1BF36B2B}"/>
              </a:ext>
            </a:extLst>
          </p:cNvPr>
          <p:cNvSpPr txBox="1"/>
          <p:nvPr/>
        </p:nvSpPr>
        <p:spPr>
          <a:xfrm>
            <a:off x="1239520" y="473255"/>
            <a:ext cx="6024880" cy="591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Accessory spleen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accessory spleen is a small splenic nodule extra to the spleen usually formed in early embryogenesis.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Accessory spleens are found in approximately 10 percent of the population and are typically around 1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centimeter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diameter.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Splenosis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condition where displaced pieces of splenic tissue (often following trauma or splenectomy)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autotransplant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abdominal cavity as accessory spleens.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180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Polysplenia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congenital disease manifested by multiple small accessory spleens, rather than a single, full-sized, normal spleen.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Polysplenia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sometimes occurs alone, but it is often accompanied by other developmental abnormalities such as intestinal malrotation or biliary atresia, or cardiac abnormalities, such as dextrocardia.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accessory spleens are non-functional.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77F7A-7C0E-D99D-7BC9-A3CF2288F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475" y="1643062"/>
            <a:ext cx="38290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15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F51276-B65C-ABB1-0DB9-5428D6BBC464}"/>
              </a:ext>
            </a:extLst>
          </p:cNvPr>
          <p:cNvSpPr txBox="1"/>
          <p:nvPr/>
        </p:nvSpPr>
        <p:spPr>
          <a:xfrm>
            <a:off x="3566160" y="416417"/>
            <a:ext cx="6096000" cy="182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8645">
              <a:lnSpc>
                <a:spcPct val="107000"/>
              </a:lnSpc>
            </a:pPr>
            <a:r>
              <a:rPr lang="en-IN" sz="2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REFRENCES: -</a:t>
            </a:r>
          </a:p>
          <a:p>
            <a:pPr marL="588645">
              <a:lnSpc>
                <a:spcPct val="107000"/>
              </a:lnSpc>
            </a:pPr>
            <a:endParaRPr lang="en-IN" sz="2400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88645">
              <a:lnSpc>
                <a:spcPct val="107000"/>
              </a:lnSpc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D </a:t>
            </a:r>
            <a:r>
              <a:rPr lang="en-IN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Chaurasia’s</a:t>
            </a: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Human Anatomy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Gray’s Anatomy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D1A3E-2D56-4B79-D848-FEFEA8CC6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0" y="2868317"/>
            <a:ext cx="4673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24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36E634-4740-6777-9767-ADADC0103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4050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453</TotalTime>
  <Words>2232</Words>
  <Application>Microsoft Office PowerPoint</Application>
  <PresentationFormat>Widescreen</PresentationFormat>
  <Paragraphs>211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Helvetica</vt:lpstr>
      <vt:lpstr>Symbol</vt:lpstr>
      <vt:lpstr>Times New Roman</vt:lpstr>
      <vt:lpstr>Tw Cen MT</vt:lpstr>
      <vt:lpstr>var(--medium)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Nidhi Patel</dc:creator>
  <cp:lastModifiedBy>Nidhi Patel</cp:lastModifiedBy>
  <cp:revision>11</cp:revision>
  <dcterms:created xsi:type="dcterms:W3CDTF">2022-11-10T08:40:55Z</dcterms:created>
  <dcterms:modified xsi:type="dcterms:W3CDTF">2022-12-16T07:34:59Z</dcterms:modified>
</cp:coreProperties>
</file>