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29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60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48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03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98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44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2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5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731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45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80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11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582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457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62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418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854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8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F7122B0-F53E-4F21-B71B-C19E461F8953}" type="datetimeFigureOut">
              <a:rPr lang="en-IN" smtClean="0"/>
              <a:t>14-11-2022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A21FD9-CE73-4F55-B74D-19D4D30A0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04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0" r:id="rId1"/>
    <p:sldLayoutId id="2147484431" r:id="rId2"/>
    <p:sldLayoutId id="2147484432" r:id="rId3"/>
    <p:sldLayoutId id="2147484433" r:id="rId4"/>
    <p:sldLayoutId id="2147484434" r:id="rId5"/>
    <p:sldLayoutId id="2147484435" r:id="rId6"/>
    <p:sldLayoutId id="2147484436" r:id="rId7"/>
    <p:sldLayoutId id="2147484437" r:id="rId8"/>
    <p:sldLayoutId id="2147484438" r:id="rId9"/>
    <p:sldLayoutId id="2147484439" r:id="rId10"/>
    <p:sldLayoutId id="2147484440" r:id="rId11"/>
    <p:sldLayoutId id="2147484441" r:id="rId12"/>
    <p:sldLayoutId id="2147484442" r:id="rId13"/>
    <p:sldLayoutId id="2147484443" r:id="rId14"/>
    <p:sldLayoutId id="2147484444" r:id="rId15"/>
    <p:sldLayoutId id="2147484445" r:id="rId16"/>
    <p:sldLayoutId id="214748444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D02E2-CBAB-B036-968A-FFC31FF5B2C3}"/>
              </a:ext>
            </a:extLst>
          </p:cNvPr>
          <p:cNvSpPr txBox="1"/>
          <p:nvPr/>
        </p:nvSpPr>
        <p:spPr>
          <a:xfrm>
            <a:off x="4064000" y="287217"/>
            <a:ext cx="9113520" cy="601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 of Presentation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 OF DINACHARYA FOR IMMUNITY</a:t>
            </a:r>
            <a:r>
              <a:rPr lang="en-US" sz="2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0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NIDHI PATEL</a:t>
            </a:r>
            <a:b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MS 1</a:t>
            </a:r>
            <a:r>
              <a:rPr lang="en-US" sz="18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year dept. of PSR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en-US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KOLA VIJAYA KUMARI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Professor &amp; HOD                           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MD(AYU)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0D342-9EEA-1A25-86D9-A6CD592D6E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78"/>
          <a:stretch/>
        </p:blipFill>
        <p:spPr>
          <a:xfrm>
            <a:off x="1351279" y="2080768"/>
            <a:ext cx="5232401" cy="32735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0347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F2D6D1-B2BB-977E-C4F2-B7854952214B}"/>
              </a:ext>
            </a:extLst>
          </p:cNvPr>
          <p:cNvSpPr txBox="1"/>
          <p:nvPr/>
        </p:nvSpPr>
        <p:spPr>
          <a:xfrm>
            <a:off x="1727200" y="680720"/>
            <a:ext cx="4216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DINACHARYA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Dinacharya</a:t>
            </a:r>
            <a:r>
              <a:rPr lang="en-US" sz="2000" dirty="0"/>
              <a:t> is defined as "the daily routine".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According to Ayurveda one should follow </a:t>
            </a:r>
            <a:r>
              <a:rPr lang="en-US" sz="2000" dirty="0" err="1"/>
              <a:t>Dinacharya</a:t>
            </a:r>
            <a:r>
              <a:rPr lang="en-US" sz="2000" dirty="0"/>
              <a:t> in order to lead a healthy and disease free life.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Ayurveda gives more emphasis on prevention of diseases than treating a disease.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Dinacharya</a:t>
            </a:r>
            <a:r>
              <a:rPr lang="en-US" sz="2000" dirty="0"/>
              <a:t> helps to establish balance in one’s constitution.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It also regularizes a person’s biological clock, aids digestion, absorption and assimilation and generates self esteem, discipline, peace, happiness and longevity.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3F170E-671E-F4D4-1C2A-0A20D8551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102" y="1704340"/>
            <a:ext cx="4819958" cy="320294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15443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FB64EFF-3763-C5B1-38A4-CCE81DED2EBF}"/>
              </a:ext>
            </a:extLst>
          </p:cNvPr>
          <p:cNvSpPr txBox="1"/>
          <p:nvPr/>
        </p:nvSpPr>
        <p:spPr>
          <a:xfrm>
            <a:off x="1452880" y="355600"/>
            <a:ext cx="964184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u="sng" dirty="0">
                <a:latin typeface="Arial" pitchFamily="34" charset="0"/>
                <a:cs typeface="Arial" pitchFamily="34" charset="0"/>
              </a:rPr>
              <a:t>IMMUNITY</a:t>
            </a:r>
          </a:p>
          <a:p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Immunity is the body's natural ability  to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 external infection.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Ayurveda describes it under </a:t>
            </a:r>
          </a:p>
          <a:p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Vyadhikshamatwa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Agni and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Ojus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CD7A2A-375B-4A63-DA8D-403DE02B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034" y="1358248"/>
            <a:ext cx="4354966" cy="306643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92F39F-8CC3-CD98-13DE-6C3F5ED3C41B}"/>
              </a:ext>
            </a:extLst>
          </p:cNvPr>
          <p:cNvSpPr txBox="1"/>
          <p:nvPr/>
        </p:nvSpPr>
        <p:spPr>
          <a:xfrm>
            <a:off x="1452880" y="2767280"/>
            <a:ext cx="50661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terms, the immune system is a network of cells and organs in our body, responsible for shielding us from any disease causative organisms.</a:t>
            </a:r>
          </a:p>
        </p:txBody>
      </p:sp>
    </p:spTree>
    <p:extLst>
      <p:ext uri="{BB962C8B-B14F-4D97-AF65-F5344CB8AC3E}">
        <p14:creationId xmlns:p14="http://schemas.microsoft.com/office/powerpoint/2010/main" val="19008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C1C78-C99F-73C1-2344-667D1856D09C}"/>
              </a:ext>
            </a:extLst>
          </p:cNvPr>
          <p:cNvSpPr txBox="1"/>
          <p:nvPr/>
        </p:nvSpPr>
        <p:spPr>
          <a:xfrm>
            <a:off x="1684458" y="87059"/>
            <a:ext cx="5842000" cy="668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buFont typeface="Symbol" panose="05050102010706020507" pitchFamily="18" charset="2"/>
              <a:buChar char=""/>
            </a:pP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ब्राह्म मुहूर्त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</a:p>
          <a:p>
            <a:pPr marR="228600" lvl="0"/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It is the first step of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Dinacharya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healthy person should wake up from the bed in the </a:t>
            </a:r>
            <a:r>
              <a:rPr lang="sa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ब्राह्म मुहूर्त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means around 48 to 96 minutes before the sunrise.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In early morning the atmosphere is very clear as well as fresh and more utility of oxygen is possible.</a:t>
            </a:r>
          </a:p>
          <a:p>
            <a:pPr marL="285750" marR="228600" lvl="0" indent="-285750">
              <a:buFont typeface="Wingdings" panose="05000000000000000000" pitchFamily="2" charset="2"/>
              <a:buChar char="Ø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There will be abundance of nascent of oxygen which easily mixes with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haemoglobin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forming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oxyhaemoglobin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reaching to the remote tissues and also boost the immune system as oxygen deficient bodies are highly prone to disease.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Melatonin hormone (mood elevator) is produced much in early morning.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It work as powerful antioxidant, fight against the disease.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During 3 to 6 AM earth vibration is less so mind works effectively throughout the day.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Ø"/>
            </a:pP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F3E9E-A42F-D6D7-62F5-B5737E676B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6938" y="2397760"/>
            <a:ext cx="4139147" cy="33877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2783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BBF13E-A783-A054-A930-F6ABF89D3992}"/>
              </a:ext>
            </a:extLst>
          </p:cNvPr>
          <p:cNvSpPr txBox="1"/>
          <p:nvPr/>
        </p:nvSpPr>
        <p:spPr>
          <a:xfrm>
            <a:off x="1544320" y="193041"/>
            <a:ext cx="50596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buFont typeface="Symbol" panose="05050102010706020507" pitchFamily="18" charset="2"/>
              <a:buChar char=""/>
            </a:pP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उष् पान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  <a:r>
              <a:rPr lang="en-US" sz="2400" b="1" u="sng" dirty="0">
                <a:effectLst/>
                <a:latin typeface="Mangal" panose="02040503050203030202" pitchFamily="18" charset="0"/>
                <a:ea typeface="Calibri" panose="020F0502020204030204" pitchFamily="34" charset="0"/>
              </a:rPr>
              <a:t> </a:t>
            </a: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(भाव प्रकाश)</a:t>
            </a:r>
            <a:endParaRPr lang="en-IN" sz="2400" b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R="228600" lvl="0"/>
            <a:endParaRPr lang="en-IN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It means drinking lukewarm water.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Drinks 8 </a:t>
            </a:r>
            <a:r>
              <a:rPr lang="sa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प्रसृति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(768 ml) of water at the time of early sunrise shall live for a 100 years and more free from diseases and old age.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If person drinks water in early morning then he/she can not suffer from gastric disorders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C776F-E21F-A98E-BA46-7A0D73EB5B6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7280" y="1352952"/>
            <a:ext cx="3631565" cy="24201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0E569D-FA4C-6784-95C0-164CAD0B1AD1}"/>
              </a:ext>
            </a:extLst>
          </p:cNvPr>
          <p:cNvSpPr txBox="1"/>
          <p:nvPr/>
        </p:nvSpPr>
        <p:spPr>
          <a:xfrm>
            <a:off x="1544320" y="3429000"/>
            <a:ext cx="756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Luke warm water or processed with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ginger powder and coriander.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Kindles metabolism and immunity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046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45B49-01A1-F125-76D3-0E48C2374483}"/>
              </a:ext>
            </a:extLst>
          </p:cNvPr>
          <p:cNvSpPr txBox="1"/>
          <p:nvPr/>
        </p:nvSpPr>
        <p:spPr>
          <a:xfrm>
            <a:off x="1778000" y="422107"/>
            <a:ext cx="61772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buFont typeface="Symbol" panose="05050102010706020507" pitchFamily="18" charset="2"/>
              <a:buChar char=""/>
            </a:pP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दन्तधावन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</a:p>
          <a:p>
            <a:pPr marR="228600" lvl="0"/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One should clean one’s teeth two times, one in   morning and other at night after intake of food.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76CC8-4669-A510-D2C4-FC415CE46BF9}"/>
              </a:ext>
            </a:extLst>
          </p:cNvPr>
          <p:cNvSpPr txBox="1"/>
          <p:nvPr/>
        </p:nvSpPr>
        <p:spPr>
          <a:xfrm>
            <a:off x="1778000" y="18071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दन्तधावन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by the twigs of some ayurvedic medicine like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अर्क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वट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खदिर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करञ्ज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and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अर्जुन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is very beneficial.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ayurvedic tooth powder which contains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कषाय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मधुर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कटु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तिक्त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taste removes the bad smell, removes sliminess from the mouth.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A1330-4BCD-6517-3B2A-274A9A0DE576}"/>
              </a:ext>
            </a:extLst>
          </p:cNvPr>
          <p:cNvSpPr txBox="1"/>
          <p:nvPr/>
        </p:nvSpPr>
        <p:spPr>
          <a:xfrm>
            <a:off x="1778000" y="32844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Cleanses and prevent growth of micro organisms.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local immunity.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8A08AF-8596-92C0-294C-38F52D30AE1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87360" y="936883"/>
            <a:ext cx="3265170" cy="24330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C453C2-150F-8C7F-2740-172E5C68143B}"/>
              </a:ext>
            </a:extLst>
          </p:cNvPr>
          <p:cNvSpPr txBox="1"/>
          <p:nvPr/>
        </p:nvSpPr>
        <p:spPr>
          <a:xfrm>
            <a:off x="1778000" y="4219902"/>
            <a:ext cx="6096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जिह्वा निर्लेखन</a:t>
            </a:r>
            <a:endParaRPr lang="en-IN" sz="2400" b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sz="2400" b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brushing tongue cleaning should be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done.It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dourgandha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hlitosis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Vairasya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(faulty taste),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Aruchi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(tastelessness).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3B4341-E06B-8923-2558-6D4C8EFD4E6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34509" y="4413162"/>
            <a:ext cx="3170872" cy="17942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3592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FA6CE5-8D41-6432-7519-29FA6280038D}"/>
              </a:ext>
            </a:extLst>
          </p:cNvPr>
          <p:cNvSpPr txBox="1"/>
          <p:nvPr/>
        </p:nvSpPr>
        <p:spPr>
          <a:xfrm>
            <a:off x="1503680" y="719803"/>
            <a:ext cx="56286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buFont typeface="Symbol" panose="05050102010706020507" pitchFamily="18" charset="2"/>
              <a:buChar char=""/>
            </a:pP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अञ्जन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</a:p>
          <a:p>
            <a:pPr marR="228600" lvl="0"/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Collyrium to the eyes is good for eyes, so it should be used daily.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By this eyes become beautiful and capable of seeing minute things even.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72DE6-AFE7-5352-C038-722BE0A5C7BB}"/>
              </a:ext>
            </a:extLst>
          </p:cNvPr>
          <p:cNvSpPr txBox="1"/>
          <p:nvPr/>
        </p:nvSpPr>
        <p:spPr>
          <a:xfrm>
            <a:off x="1503680" y="265879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prevents &amp; cures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(burning),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(itching), Mala (eye debris),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Klinnta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(watery eye),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(pain) etc.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F99475-187E-27F5-FCEB-001A536633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32320" y="3319834"/>
            <a:ext cx="4906010" cy="32079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07A9ED-80E7-9F1B-11D2-41467BC57F2D}"/>
              </a:ext>
            </a:extLst>
          </p:cNvPr>
          <p:cNvSpPr txBox="1"/>
          <p:nvPr/>
        </p:nvSpPr>
        <p:spPr>
          <a:xfrm>
            <a:off x="1503680" y="362980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to be done in redness of eyes.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local immunity.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42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49362D-321A-F838-18E1-50D81054DB95}"/>
              </a:ext>
            </a:extLst>
          </p:cNvPr>
          <p:cNvSpPr txBox="1"/>
          <p:nvPr/>
        </p:nvSpPr>
        <p:spPr>
          <a:xfrm>
            <a:off x="1676400" y="243840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buFont typeface="Symbol" panose="05050102010706020507" pitchFamily="18" charset="2"/>
              <a:buChar char=""/>
            </a:pP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नस्य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</a:p>
          <a:p>
            <a:pPr marR="228600" lvl="0"/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नस्य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is very important procedure and it is beneficial for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जत्रूर्ध्व विकार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नस्य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should be performed daily with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अणु तैल.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2 to 3 drops of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तैल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is administered into each nostrils daily is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called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प्रतिमर्श नस्य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नस्य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can be performed with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कटु तैल</a:t>
            </a:r>
            <a:r>
              <a:rPr lang="sa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also according to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भावप्रकाश.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878D8-FDDF-4CA0-A47D-D3D3A9382CE9}"/>
              </a:ext>
            </a:extLst>
          </p:cNvPr>
          <p:cNvSpPr txBox="1"/>
          <p:nvPr/>
        </p:nvSpPr>
        <p:spPr>
          <a:xfrm>
            <a:off x="1676400" y="2115939"/>
            <a:ext cx="10220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prevents-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Khalitya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(hair fall),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Palitya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hair),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Manyastambha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(stiffness of neck),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Hanustambha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(stiffness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mendible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Shirah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(head ache),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Ardita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(facial paralysis),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Peenasa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(chronic rhinitis) and other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Vataja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disorders.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0E809-384D-5A31-7619-8F192C2B4315}"/>
              </a:ext>
            </a:extLst>
          </p:cNvPr>
          <p:cNvSpPr txBox="1"/>
          <p:nvPr/>
        </p:nvSpPr>
        <p:spPr>
          <a:xfrm>
            <a:off x="1676400" y="3006636"/>
            <a:ext cx="10861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Produces a biofilm preventing entry of micro organisms.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avoided in acute infection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BD757-B883-9E4A-72F0-B3EB9867B3FE}"/>
              </a:ext>
            </a:extLst>
          </p:cNvPr>
          <p:cNvSpPr txBox="1"/>
          <p:nvPr/>
        </p:nvSpPr>
        <p:spPr>
          <a:xfrm>
            <a:off x="1676400" y="3640603"/>
            <a:ext cx="10220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physiological action of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nasya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dravya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gets carried through the olfactory nerve endings followed by cilia and cilia stimulate by lipid products.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E67F2F-49C6-2A7C-8773-385F662F23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09440" y="4577467"/>
            <a:ext cx="3948430" cy="1954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61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71B0C5-8C27-1108-1765-06CFDCFC51B8}"/>
              </a:ext>
            </a:extLst>
          </p:cNvPr>
          <p:cNvSpPr txBox="1"/>
          <p:nvPr/>
        </p:nvSpPr>
        <p:spPr>
          <a:xfrm>
            <a:off x="1564640" y="335469"/>
            <a:ext cx="971296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28600" lvl="0" indent="-342900">
              <a:buFont typeface="Symbol" panose="05050102010706020507" pitchFamily="18" charset="2"/>
              <a:buChar char=""/>
            </a:pP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गण्डूष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and </a:t>
            </a:r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कवल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</a:p>
          <a:p>
            <a:pPr marR="228600" lvl="0"/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These both are different.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Mouth is completely filled with </a:t>
            </a:r>
            <a:r>
              <a:rPr lang="sa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गण्डूष</a:t>
            </a:r>
            <a:r>
              <a:rPr lang="sa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sa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द्रव्य</a:t>
            </a:r>
            <a:r>
              <a:rPr lang="sa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and kept without movement is called </a:t>
            </a:r>
            <a:r>
              <a:rPr lang="sa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गण्डूष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liquid should be kept in mouth till the discharge from nasal passage and eyes. 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</a:t>
            </a:r>
            <a:r>
              <a:rPr lang="sa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द्रव्य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used moves easily in mouth called as </a:t>
            </a:r>
            <a:r>
              <a:rPr lang="sa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कवल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</a:p>
          <a:p>
            <a:pPr marL="285750" marR="228600" lvl="0" indent="-28575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can be used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Gandusha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provides muscular strength and prevents dryness of mouth, throat and other dental problems. </a:t>
            </a:r>
          </a:p>
          <a:p>
            <a:pPr marL="285750" marR="228600" lvl="0" indent="-28575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Oil has property of coating. Bacteria, virus and other microbes can’t pass through mucosa.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Gandusha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local measure for pathogen entry through mouth.</a:t>
            </a:r>
          </a:p>
          <a:p>
            <a:pPr marR="228600" lvl="0">
              <a:spcAft>
                <a:spcPts val="1000"/>
              </a:spcAft>
            </a:pP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EB6E0-250C-DA78-8FAB-A45F5BD3A4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78200" y="4196080"/>
            <a:ext cx="5435600" cy="25704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38809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185BDA-A0DE-8D1C-17A9-127671145932}"/>
              </a:ext>
            </a:extLst>
          </p:cNvPr>
          <p:cNvSpPr txBox="1"/>
          <p:nvPr/>
        </p:nvSpPr>
        <p:spPr>
          <a:xfrm>
            <a:off x="1595120" y="84019"/>
            <a:ext cx="1010666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अभ्यङ्ग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taking proper massage it delays aging, cures tiredness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disorders, and improves vision,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complexion, nourishment, life, sleep.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by doing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padaabyanga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provides strength and stability to feet, improves the vision and pacifies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doing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Shiroabyanga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prevents the balding, graying, hair fall, strengthens the hair root, and makes the hair long and black.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also nourishes the sense organs, softens the skin.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It should be practice daily with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तिल</a:t>
            </a:r>
            <a:r>
              <a:rPr lang="sa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तैल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Abhyanga provide anti-inflammatory effect and inhibit the pathogens. It provides strength to skin and act as barrier to pathogen.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blood circulation, excretion of metabolic waste and improves immunity.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1ACA9-4BDB-22F5-E7C2-450EE6994A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71420" y="4049418"/>
            <a:ext cx="3171030" cy="2385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62A320-5348-7F1A-6BB8-623B397B9B7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55391" y="4049418"/>
            <a:ext cx="3171029" cy="23524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8802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853413-E2D9-AC2A-FF35-E2D1F37F5FD2}"/>
              </a:ext>
            </a:extLst>
          </p:cNvPr>
          <p:cNvSpPr txBox="1"/>
          <p:nvPr/>
        </p:nvSpPr>
        <p:spPr>
          <a:xfrm>
            <a:off x="1645920" y="121920"/>
            <a:ext cx="48158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व्यायाम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increases stamina, provide stability to body and increases Agni.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control obesity.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physical activity controls body weight, reduces stress, maintains blood pressure which helps in acquiring good immunity.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Asana and Pranayama are the best in maintaining physical and mental wellness.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incidence of communicable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e.g.,bacterial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viral infections) and non-communicable diseases (e.g., cancer)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competency is enhanced by regular exercise.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B992FC-3EFB-E052-D5F5-AD96D89E77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95616" y="777285"/>
            <a:ext cx="5011904" cy="29022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2DFF16-59FF-4C7D-C6EC-B83D3AB645DB}"/>
              </a:ext>
            </a:extLst>
          </p:cNvPr>
          <p:cNvSpPr txBox="1"/>
          <p:nvPr/>
        </p:nvSpPr>
        <p:spPr>
          <a:xfrm>
            <a:off x="1645920" y="442635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induces release of pro-inflammatory cytokines which lead to cell redistribution and provide anti-inflammatory effects. Neutrophil concentration also increases during exercise.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flow increases during exercise to provide oxygen for metabolic demand of body tissue. Sufficient oxygen supply to tissues help to maintain health in better way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040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5C855E-6C13-F193-6A8A-D2DA37E71668}"/>
              </a:ext>
            </a:extLst>
          </p:cNvPr>
          <p:cNvSpPr txBox="1"/>
          <p:nvPr/>
        </p:nvSpPr>
        <p:spPr>
          <a:xfrm>
            <a:off x="1788160" y="289679"/>
            <a:ext cx="5750560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स्नान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:-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the life span, it removes dirt (we come in contact with many bacteria, virus and other infectious germs in day to day life).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sweating, itching and provide immunity to fight against diseases.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natural immunity booster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Ojasandhanakara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done before taking meal in the morning. Lower body bath should be done with warm water. Head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done with cold water.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Bathing with warm water leads to hyper thermic action which warms the blood and increase deep body temperature.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 can’t survive in that particular temperature.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increases the blood circulation and strengthens immune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A47B7-8A63-68A1-A19A-24BCD0B070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60"/>
          <a:stretch/>
        </p:blipFill>
        <p:spPr>
          <a:xfrm>
            <a:off x="8249920" y="1495864"/>
            <a:ext cx="3261360" cy="3866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112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C68C08-D72E-9757-66C0-EAA8C9ED7C8B}"/>
              </a:ext>
            </a:extLst>
          </p:cNvPr>
          <p:cNvSpPr txBox="1"/>
          <p:nvPr/>
        </p:nvSpPr>
        <p:spPr>
          <a:xfrm>
            <a:off x="1463040" y="243840"/>
            <a:ext cx="105257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आहार:-</a:t>
            </a:r>
            <a:endParaRPr lang="en-IN" sz="2400" b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very important for immunity.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should start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Madhura rasa then amla,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lavana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Kashayaa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this one should take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chronological order.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one should take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anupana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Because this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rasa gives strength,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varna,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dhatu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poshana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prasadata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Fruits, roasted cereals like gram, peanuts, pulses etc. Sprouted cereals, Puffed rice, butter milk are considered as healthy food items.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needed to change our style of food as: Consume a diet rich in vegetables and fruits , whole fruit is better than fruit juice because it contains fiber.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Vegetables which are green, reduces fat and blood sugar level.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food by boiling, roasting, steaming, baking and avoid frying.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BF54E-E7DE-A37C-FBB3-33462D9A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8351520" y="3551556"/>
            <a:ext cx="3637280" cy="31743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7217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FD631D-ED30-1961-9FCA-22B8F8215418}"/>
              </a:ext>
            </a:extLst>
          </p:cNvPr>
          <p:cNvSpPr txBox="1"/>
          <p:nvPr/>
        </p:nvSpPr>
        <p:spPr>
          <a:xfrm>
            <a:off x="1300480" y="86777"/>
            <a:ext cx="104444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228600" indent="-228600"/>
            <a:r>
              <a:rPr lang="sa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निद्रा:-</a:t>
            </a:r>
            <a:endParaRPr lang="en-IN" sz="2400" b="1" u="sng" dirty="0"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685800" marR="228600" indent="-228600"/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Sleep is a special state of mind in which the mind is not associated with any type of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इन्द्रिय.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Proper or improper sleep affects on our health.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If proper sleep is not taken then the person loose his immunity because proper sleep is responsible for attaining immunity.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228600" lvl="0" indent="-342900"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In ayurveda also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आचार्य चरक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explained about effects of </a:t>
            </a: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निद्रा-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685800" marR="228600" indent="-228600" algn="ctr"/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निद्रायत्तंसुखं दु:खं पुष्टि: कार्ष्यबलाबलाम |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685800" marR="228600" indent="-228600" algn="ctr"/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वृषताक्लिबता ज्ञानामज्ञानंजीवितं न च ||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685800" marR="228600" indent="-228600" algn="r">
              <a:spcAft>
                <a:spcPts val="1000"/>
              </a:spcAft>
            </a:pPr>
            <a:r>
              <a:rPr lang="sa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-च.सू. २१/३६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D22A9-47BE-F3BB-5700-84D06B3BB56A}"/>
              </a:ext>
            </a:extLst>
          </p:cNvPr>
          <p:cNvSpPr txBox="1"/>
          <p:nvPr/>
        </p:nvSpPr>
        <p:spPr>
          <a:xfrm>
            <a:off x="1300480" y="3072210"/>
            <a:ext cx="10576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7070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provides essential support to the immune system.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7070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Getting sufficient hours of high-quality sleep enables a well-balanced immune defense that features strong innate and adaptive immunity.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6AE08-EFE8-02F4-97D8-63DE063C52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08512" y="3995540"/>
            <a:ext cx="3960495" cy="25998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5904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FDA84A-62F6-D189-7D8B-63C449829A5C}"/>
              </a:ext>
            </a:extLst>
          </p:cNvPr>
          <p:cNvSpPr txBox="1"/>
          <p:nvPr/>
        </p:nvSpPr>
        <p:spPr>
          <a:xfrm>
            <a:off x="1584960" y="115297"/>
            <a:ext cx="990600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28600" lvl="0" algn="ctr">
              <a:spcAft>
                <a:spcPts val="1000"/>
              </a:spcAft>
            </a:pP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CONCLUSION</a:t>
            </a:r>
          </a:p>
          <a:p>
            <a:pPr marR="228600" lvl="0" algn="ctr">
              <a:spcAft>
                <a:spcPts val="1000"/>
              </a:spcAft>
            </a:pP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marR="228600" indent="-228600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 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With the advancement of time, lot of changes has taken place inevitably in the social and religious customs and behavior and also in the mode of lifestyle of people.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Boosting the body’s natural immunity plays a significant role in maintenance of health. In busy life everyone needs to understand the importance of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dinacharya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dincharya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regimen if followed properly helps to attain physical, mental and spiritual well being of an individual.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34B8D-5E87-CC2C-66F1-B772AE64D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744" y="3058579"/>
            <a:ext cx="4943856" cy="32939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8266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2DC033-28FF-41EA-C408-FAEACE4EE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05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468</TotalTime>
  <Words>1533</Words>
  <Application>Microsoft Office PowerPoint</Application>
  <PresentationFormat>Widescreen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Corbel</vt:lpstr>
      <vt:lpstr>Mangal</vt:lpstr>
      <vt:lpstr>Symbol</vt:lpstr>
      <vt:lpstr>Times New Roman</vt:lpstr>
      <vt:lpstr>Wingdings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Nidhi Patel</dc:creator>
  <cp:lastModifiedBy>Nidhi Patel</cp:lastModifiedBy>
  <cp:revision>19</cp:revision>
  <dcterms:created xsi:type="dcterms:W3CDTF">2022-11-11T09:11:38Z</dcterms:created>
  <dcterms:modified xsi:type="dcterms:W3CDTF">2022-11-14T09:14:39Z</dcterms:modified>
</cp:coreProperties>
</file>